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4" r:id="rId1"/>
  </p:sldMasterIdLst>
  <p:sldIdLst>
    <p:sldId id="256" r:id="rId2"/>
    <p:sldId id="257" r:id="rId3"/>
    <p:sldId id="258" r:id="rId4"/>
    <p:sldId id="261" r:id="rId5"/>
    <p:sldId id="260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66B1A1-6EEA-4202-ACBA-2A9408B80423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F27A81E1-9E2D-4537-9676-A5BFE34A8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922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66B1A1-6EEA-4202-ACBA-2A9408B80423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A81E1-9E2D-4537-9676-A5BFE34A8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0685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66B1A1-6EEA-4202-ACBA-2A9408B80423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F27A81E1-9E2D-4537-9676-A5BFE34A8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409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66B1A1-6EEA-4202-ACBA-2A9408B80423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F27A81E1-9E2D-4537-9676-A5BFE34A8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2214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66B1A1-6EEA-4202-ACBA-2A9408B80423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F27A81E1-9E2D-4537-9676-A5BFE34A8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127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66B1A1-6EEA-4202-ACBA-2A9408B80423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A81E1-9E2D-4537-9676-A5BFE34A8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4250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66B1A1-6EEA-4202-ACBA-2A9408B80423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A81E1-9E2D-4537-9676-A5BFE34A8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9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66B1A1-6EEA-4202-ACBA-2A9408B80423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A81E1-9E2D-4537-9676-A5BFE34A8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2865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66B1A1-6EEA-4202-ACBA-2A9408B80423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F27A81E1-9E2D-4537-9676-A5BFE34A8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7455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66B1A1-6EEA-4202-ACBA-2A9408B80423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F27A81E1-9E2D-4537-9676-A5BFE34A8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4174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66B1A1-6EEA-4202-ACBA-2A9408B80423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F27A81E1-9E2D-4537-9676-A5BFE34A8B73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7180638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66B1A1-6EEA-4202-ACBA-2A9408B80423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F27A81E1-9E2D-4537-9676-A5BFE34A8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346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66B1A1-6EEA-4202-ACBA-2A9408B80423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F27A81E1-9E2D-4537-9676-A5BFE34A8B73}" type="slidenum">
              <a:rPr lang="en-US" smtClean="0"/>
              <a:t>‹#›</a:t>
            </a:fld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303577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66B1A1-6EEA-4202-ACBA-2A9408B80423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F27A81E1-9E2D-4537-9676-A5BFE34A8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03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66B1A1-6EEA-4202-ACBA-2A9408B80423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A81E1-9E2D-4537-9676-A5BFE34A8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10924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66B1A1-6EEA-4202-ACBA-2A9408B80423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A81E1-9E2D-4537-9676-A5BFE34A8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34813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66B1A1-6EEA-4202-ACBA-2A9408B80423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F27A81E1-9E2D-4537-9676-A5BFE34A8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1429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5" r:id="rId1"/>
    <p:sldLayoutId id="2147483756" r:id="rId2"/>
    <p:sldLayoutId id="2147483757" r:id="rId3"/>
    <p:sldLayoutId id="2147483758" r:id="rId4"/>
    <p:sldLayoutId id="2147483759" r:id="rId5"/>
    <p:sldLayoutId id="2147483760" r:id="rId6"/>
    <p:sldLayoutId id="2147483761" r:id="rId7"/>
    <p:sldLayoutId id="2147483762" r:id="rId8"/>
    <p:sldLayoutId id="2147483763" r:id="rId9"/>
    <p:sldLayoutId id="2147483764" r:id="rId10"/>
    <p:sldLayoutId id="2147483765" r:id="rId11"/>
    <p:sldLayoutId id="2147483766" r:id="rId12"/>
    <p:sldLayoutId id="2147483767" r:id="rId13"/>
    <p:sldLayoutId id="2147483768" r:id="rId14"/>
    <p:sldLayoutId id="2147483769" r:id="rId15"/>
    <p:sldLayoutId id="2147483770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D356F1A-690D-401E-8CF3-E4686CDFEC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398A7BA-9279-4363-9D59-238782AB6B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657608" y="228600"/>
            <a:ext cx="2851523" cy="6638625"/>
            <a:chOff x="2487613" y="285750"/>
            <a:chExt cx="2428875" cy="5654676"/>
          </a:xfrm>
        </p:grpSpPr>
        <p:sp>
          <p:nvSpPr>
            <p:cNvPr id="13" name="Freeform 11">
              <a:extLst>
                <a:ext uri="{FF2B5EF4-FFF2-40B4-BE49-F238E27FC236}">
                  <a16:creationId xmlns:a16="http://schemas.microsoft.com/office/drawing/2014/main" id="{8ACCBEEF-7085-4833-8335-E4613C0A17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12">
              <a:extLst>
                <a:ext uri="{FF2B5EF4-FFF2-40B4-BE49-F238E27FC236}">
                  <a16:creationId xmlns:a16="http://schemas.microsoft.com/office/drawing/2014/main" id="{B39C0EC5-6C91-409A-AB3F-D66AF23E9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13">
              <a:extLst>
                <a:ext uri="{FF2B5EF4-FFF2-40B4-BE49-F238E27FC236}">
                  <a16:creationId xmlns:a16="http://schemas.microsoft.com/office/drawing/2014/main" id="{4D4A9340-30CF-474C-AC93-3E9048DFE9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4">
              <a:extLst>
                <a:ext uri="{FF2B5EF4-FFF2-40B4-BE49-F238E27FC236}">
                  <a16:creationId xmlns:a16="http://schemas.microsoft.com/office/drawing/2014/main" id="{C2D90565-D660-46B2-B574-5A6E37C8B1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5">
              <a:extLst>
                <a:ext uri="{FF2B5EF4-FFF2-40B4-BE49-F238E27FC236}">
                  <a16:creationId xmlns:a16="http://schemas.microsoft.com/office/drawing/2014/main" id="{4ADDF1F8-3D32-49F9-8A53-B01C2D92CC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6">
              <a:extLst>
                <a:ext uri="{FF2B5EF4-FFF2-40B4-BE49-F238E27FC236}">
                  <a16:creationId xmlns:a16="http://schemas.microsoft.com/office/drawing/2014/main" id="{DD712377-DF82-454C-8AF4-CA68112928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7">
              <a:extLst>
                <a:ext uri="{FF2B5EF4-FFF2-40B4-BE49-F238E27FC236}">
                  <a16:creationId xmlns:a16="http://schemas.microsoft.com/office/drawing/2014/main" id="{694E1871-CC0E-4704-902D-A324F58E49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8">
              <a:extLst>
                <a:ext uri="{FF2B5EF4-FFF2-40B4-BE49-F238E27FC236}">
                  <a16:creationId xmlns:a16="http://schemas.microsoft.com/office/drawing/2014/main" id="{6CEE1CA2-8DDF-468B-B5E5-B584B84BD6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9">
              <a:extLst>
                <a:ext uri="{FF2B5EF4-FFF2-40B4-BE49-F238E27FC236}">
                  <a16:creationId xmlns:a16="http://schemas.microsoft.com/office/drawing/2014/main" id="{AAA4172B-3921-482A-ABEF-E70C9242A4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20">
              <a:extLst>
                <a:ext uri="{FF2B5EF4-FFF2-40B4-BE49-F238E27FC236}">
                  <a16:creationId xmlns:a16="http://schemas.microsoft.com/office/drawing/2014/main" id="{6D277B64-E367-442D-B59F-993A458565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21">
              <a:extLst>
                <a:ext uri="{FF2B5EF4-FFF2-40B4-BE49-F238E27FC236}">
                  <a16:creationId xmlns:a16="http://schemas.microsoft.com/office/drawing/2014/main" id="{B4BA4199-8677-44FF-BD30-63130A0F5D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22">
              <a:extLst>
                <a:ext uri="{FF2B5EF4-FFF2-40B4-BE49-F238E27FC236}">
                  <a16:creationId xmlns:a16="http://schemas.microsoft.com/office/drawing/2014/main" id="{A890CEB5-09DD-4185-9405-A39BA64050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B88DAD3-AF6F-4D6C-8512-7239A69A40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684823" y="-786"/>
            <a:ext cx="2356675" cy="6854040"/>
            <a:chOff x="6627813" y="194833"/>
            <a:chExt cx="1952625" cy="5678918"/>
          </a:xfrm>
        </p:grpSpPr>
        <p:sp>
          <p:nvSpPr>
            <p:cNvPr id="27" name="Freeform 27">
              <a:extLst>
                <a:ext uri="{FF2B5EF4-FFF2-40B4-BE49-F238E27FC236}">
                  <a16:creationId xmlns:a16="http://schemas.microsoft.com/office/drawing/2014/main" id="{1BA39A29-3A4E-4822-A540-9AD6ACCBA9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28">
              <a:extLst>
                <a:ext uri="{FF2B5EF4-FFF2-40B4-BE49-F238E27FC236}">
                  <a16:creationId xmlns:a16="http://schemas.microsoft.com/office/drawing/2014/main" id="{B2ACACE6-15B3-4FAF-AA08-E1006B3FD5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1F9A4D9A-69F4-4FEC-B0DE-DD76F476ED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30">
              <a:extLst>
                <a:ext uri="{FF2B5EF4-FFF2-40B4-BE49-F238E27FC236}">
                  <a16:creationId xmlns:a16="http://schemas.microsoft.com/office/drawing/2014/main" id="{E92DC9B5-F16D-4C41-824C-822DE7AA00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31">
              <a:extLst>
                <a:ext uri="{FF2B5EF4-FFF2-40B4-BE49-F238E27FC236}">
                  <a16:creationId xmlns:a16="http://schemas.microsoft.com/office/drawing/2014/main" id="{E737D559-8865-4000-A777-792FF67549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B1C2147A-442E-40A4-8A97-FF053B9D2A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3">
              <a:extLst>
                <a:ext uri="{FF2B5EF4-FFF2-40B4-BE49-F238E27FC236}">
                  <a16:creationId xmlns:a16="http://schemas.microsoft.com/office/drawing/2014/main" id="{B138F17C-6D47-4F1B-BE44-4A47FBCFF3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4">
              <a:extLst>
                <a:ext uri="{FF2B5EF4-FFF2-40B4-BE49-F238E27FC236}">
                  <a16:creationId xmlns:a16="http://schemas.microsoft.com/office/drawing/2014/main" id="{1BCD5498-C801-426F-9CDD-B84178E72E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35">
              <a:extLst>
                <a:ext uri="{FF2B5EF4-FFF2-40B4-BE49-F238E27FC236}">
                  <a16:creationId xmlns:a16="http://schemas.microsoft.com/office/drawing/2014/main" id="{6DB0639C-39E0-4218-B7D1-0408D870F4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36">
              <a:extLst>
                <a:ext uri="{FF2B5EF4-FFF2-40B4-BE49-F238E27FC236}">
                  <a16:creationId xmlns:a16="http://schemas.microsoft.com/office/drawing/2014/main" id="{72715634-CCEA-4B5D-94D7-E2C090EA18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7">
              <a:extLst>
                <a:ext uri="{FF2B5EF4-FFF2-40B4-BE49-F238E27FC236}">
                  <a16:creationId xmlns:a16="http://schemas.microsoft.com/office/drawing/2014/main" id="{6BE08C78-1349-4408-8CE2-ED20F3244D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8">
              <a:extLst>
                <a:ext uri="{FF2B5EF4-FFF2-40B4-BE49-F238E27FC236}">
                  <a16:creationId xmlns:a16="http://schemas.microsoft.com/office/drawing/2014/main" id="{642D5BF8-EF6C-43FC-947B-6986882110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D320E72-F709-7758-8390-52A8F7965E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25066" y="2514600"/>
            <a:ext cx="5681134" cy="2262781"/>
          </a:xfrm>
        </p:spPr>
        <p:txBody>
          <a:bodyPr>
            <a:normAutofit/>
          </a:bodyPr>
          <a:lstStyle/>
          <a:p>
            <a:r>
              <a:rPr lang="en-US" sz="4400" dirty="0"/>
              <a:t>MPCS 56430 Project:</a:t>
            </a:r>
            <a:br>
              <a:rPr lang="en-US" sz="4400" dirty="0"/>
            </a:br>
            <a:r>
              <a:rPr lang="en-US" sz="4400" dirty="0"/>
              <a:t>Chess Database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60373F-5136-5C5F-6F8B-3D1BABFF9D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25066" y="4777379"/>
            <a:ext cx="5681134" cy="1126283"/>
          </a:xfrm>
        </p:spPr>
        <p:txBody>
          <a:bodyPr>
            <a:normAutofit/>
          </a:bodyPr>
          <a:lstStyle/>
          <a:p>
            <a:r>
              <a:rPr lang="en-US" dirty="0"/>
              <a:t>Shane McVeigh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841A10E-0F0E-4596-8888-870D70925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57599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2" name="Freeform 33">
            <a:extLst>
              <a:ext uri="{FF2B5EF4-FFF2-40B4-BE49-F238E27FC236}">
                <a16:creationId xmlns:a16="http://schemas.microsoft.com/office/drawing/2014/main" id="{29B1E55C-E51F-4093-A2A8-137C3E9014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3657599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5" name="Picture 4" descr="Glass chess pieces on board">
            <a:extLst>
              <a:ext uri="{FF2B5EF4-FFF2-40B4-BE49-F238E27FC236}">
                <a16:creationId xmlns:a16="http://schemas.microsoft.com/office/drawing/2014/main" id="{3CEC085C-4495-2FA9-2D02-C935314B517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381" r="20363"/>
          <a:stretch>
            <a:fillRect/>
          </a:stretch>
        </p:blipFill>
        <p:spPr>
          <a:xfrm>
            <a:off x="-2650" y="10"/>
            <a:ext cx="3681047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610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A44C337-3893-4B29-A265-B1329150B6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7620" y="-1"/>
            <a:ext cx="1220724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B358-1267-4844-8B3D-B7A279B417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836169" y="228600"/>
            <a:ext cx="2851523" cy="6638625"/>
            <a:chOff x="2487613" y="285750"/>
            <a:chExt cx="2428875" cy="5654676"/>
          </a:xfrm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B24AA06A-F1A5-4BB3-9486-9AE7A53B3F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BDF97590-C600-44CB-9303-4A3679F516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A9BBE156-3FFA-4DC4-8468-35BD28DDC6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F7960DE5-3810-4B1E-B1E2-3BAFEA91ED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359E957C-CE11-446F-8AA7-B3E98390B8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A3E9FE34-CA9E-4443-BEBF-D1B9A1C6C2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4F39D814-8A48-4509-BDEB-826F106591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8C6D08C0-8C49-4B87-9CF4-A1F08714FA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308C612B-4C0D-4863-B9CD-F86ABAA1B2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600B1EC8-1B55-4390-A183-C33B5E2273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1790A225-91E1-4BE5-A801-5F1E32721C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DFFC46A2-6BBF-47FD-BC17-5EE1DF7CB9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F44CA9C-80E8-44E1-A79C-D6EBFC73BC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77117" y="-786"/>
            <a:ext cx="2356675" cy="6854040"/>
            <a:chOff x="6627813" y="194833"/>
            <a:chExt cx="1952625" cy="5678918"/>
          </a:xfrm>
        </p:grpSpPr>
        <p:sp>
          <p:nvSpPr>
            <p:cNvPr id="26" name="Freeform 27">
              <a:extLst>
                <a:ext uri="{FF2B5EF4-FFF2-40B4-BE49-F238E27FC236}">
                  <a16:creationId xmlns:a16="http://schemas.microsoft.com/office/drawing/2014/main" id="{8CB9417F-98D9-4998-B00B-A5932E4C7D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28">
              <a:extLst>
                <a:ext uri="{FF2B5EF4-FFF2-40B4-BE49-F238E27FC236}">
                  <a16:creationId xmlns:a16="http://schemas.microsoft.com/office/drawing/2014/main" id="{FA79AA3D-583E-4A1E-AF7E-CBD980F596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29">
              <a:extLst>
                <a:ext uri="{FF2B5EF4-FFF2-40B4-BE49-F238E27FC236}">
                  <a16:creationId xmlns:a16="http://schemas.microsoft.com/office/drawing/2014/main" id="{D80C9F17-A6B2-4A12-BC77-F84264A669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30">
              <a:extLst>
                <a:ext uri="{FF2B5EF4-FFF2-40B4-BE49-F238E27FC236}">
                  <a16:creationId xmlns:a16="http://schemas.microsoft.com/office/drawing/2014/main" id="{949C9A53-ED97-44CE-BDD5-ED24892116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31">
              <a:extLst>
                <a:ext uri="{FF2B5EF4-FFF2-40B4-BE49-F238E27FC236}">
                  <a16:creationId xmlns:a16="http://schemas.microsoft.com/office/drawing/2014/main" id="{0F9FDAE7-225B-4072-8907-6EAA061744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32">
              <a:extLst>
                <a:ext uri="{FF2B5EF4-FFF2-40B4-BE49-F238E27FC236}">
                  <a16:creationId xmlns:a16="http://schemas.microsoft.com/office/drawing/2014/main" id="{9D49818B-8EA3-4B41-9783-EFE0C618C3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3">
              <a:extLst>
                <a:ext uri="{FF2B5EF4-FFF2-40B4-BE49-F238E27FC236}">
                  <a16:creationId xmlns:a16="http://schemas.microsoft.com/office/drawing/2014/main" id="{01903E65-D822-4457-B0A5-2F41682241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4">
              <a:extLst>
                <a:ext uri="{FF2B5EF4-FFF2-40B4-BE49-F238E27FC236}">
                  <a16:creationId xmlns:a16="http://schemas.microsoft.com/office/drawing/2014/main" id="{A5CF9DAB-75BF-43D9-B1E7-817D1FAA00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5">
              <a:extLst>
                <a:ext uri="{FF2B5EF4-FFF2-40B4-BE49-F238E27FC236}">
                  <a16:creationId xmlns:a16="http://schemas.microsoft.com/office/drawing/2014/main" id="{BB22916D-4BCF-4A4C-8714-A2564D34C3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36">
              <a:extLst>
                <a:ext uri="{FF2B5EF4-FFF2-40B4-BE49-F238E27FC236}">
                  <a16:creationId xmlns:a16="http://schemas.microsoft.com/office/drawing/2014/main" id="{4CD9F734-569E-44E7-BD53-6214E0F18C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37">
              <a:extLst>
                <a:ext uri="{FF2B5EF4-FFF2-40B4-BE49-F238E27FC236}">
                  <a16:creationId xmlns:a16="http://schemas.microsoft.com/office/drawing/2014/main" id="{7A5DAACB-2F42-40C8-BF6A-75B79299F9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8">
              <a:extLst>
                <a:ext uri="{FF2B5EF4-FFF2-40B4-BE49-F238E27FC236}">
                  <a16:creationId xmlns:a16="http://schemas.microsoft.com/office/drawing/2014/main" id="{AD78E0F9-8568-4672-A22F-4ED5B1A96F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294A027-9B68-A91E-F351-2A0B1728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3096" y="624110"/>
            <a:ext cx="5021516" cy="1280890"/>
          </a:xfrm>
        </p:spPr>
        <p:txBody>
          <a:bodyPr>
            <a:normAutofit/>
          </a:bodyPr>
          <a:lstStyle/>
          <a:p>
            <a:r>
              <a:rPr lang="en-US" dirty="0"/>
              <a:t>Introduction / Background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A5CD610-ED7C-4CED-A9A1-174432C88A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45704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1" name="Freeform 11">
            <a:extLst>
              <a:ext uri="{FF2B5EF4-FFF2-40B4-BE49-F238E27FC236}">
                <a16:creationId xmlns:a16="http://schemas.microsoft.com/office/drawing/2014/main" id="{0C4379BF-8C7A-480A-BC36-DA55D92A93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4645704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5" name="Picture 4" descr="First move of a chess game">
            <a:extLst>
              <a:ext uri="{FF2B5EF4-FFF2-40B4-BE49-F238E27FC236}">
                <a16:creationId xmlns:a16="http://schemas.microsoft.com/office/drawing/2014/main" id="{7381BF40-3908-77C8-8C8F-D8AFA280D21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781" r="15924"/>
          <a:stretch>
            <a:fillRect/>
          </a:stretch>
        </p:blipFill>
        <p:spPr>
          <a:xfrm>
            <a:off x="-1555" y="1731"/>
            <a:ext cx="4671091" cy="685800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443899-75DC-A04E-ED1C-FD2D9283D2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92153" y="1862785"/>
            <a:ext cx="6212458" cy="4638361"/>
          </a:xfrm>
        </p:spPr>
        <p:txBody>
          <a:bodyPr>
            <a:normAutofit/>
          </a:bodyPr>
          <a:lstStyle/>
          <a:p>
            <a:r>
              <a:rPr lang="en-US" dirty="0" err="1"/>
              <a:t>Lichess</a:t>
            </a:r>
            <a:r>
              <a:rPr lang="en-US" dirty="0"/>
              <a:t> is one of the most popular open-source online chess websites</a:t>
            </a:r>
          </a:p>
          <a:p>
            <a:r>
              <a:rPr lang="en-US" dirty="0"/>
              <a:t>They offer free access to their very large game database files per month (~30 GB per month)</a:t>
            </a:r>
          </a:p>
          <a:p>
            <a:r>
              <a:rPr lang="en-US" dirty="0"/>
              <a:t>It can take a very long time to parse through this data, so effective parallelization and HPC concepts are key</a:t>
            </a:r>
          </a:p>
          <a:p>
            <a:r>
              <a:rPr lang="en-US" dirty="0"/>
              <a:t>I sought to answer the following questions:</a:t>
            </a:r>
          </a:p>
          <a:p>
            <a:pPr lvl="1"/>
            <a:r>
              <a:rPr lang="en-US" dirty="0"/>
              <a:t>What openings are popular at different ratings?</a:t>
            </a:r>
          </a:p>
          <a:p>
            <a:pPr lvl="1"/>
            <a:r>
              <a:rPr lang="en-US" dirty="0"/>
              <a:t>Are openings/time controls gaining or losing popularity?</a:t>
            </a:r>
          </a:p>
          <a:p>
            <a:pPr lvl="1"/>
            <a:r>
              <a:rPr lang="en-US" dirty="0"/>
              <a:t>Does playing with white/black matter more at different skill levels?</a:t>
            </a:r>
          </a:p>
          <a:p>
            <a:pPr lvl="1"/>
            <a:r>
              <a:rPr lang="en-US" dirty="0"/>
              <a:t>What is the average rating difference for the winner?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26888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C1622-811C-C0C8-864F-D6B082595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209204-D49D-7B6F-8B37-DBF21572BE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Lichess</a:t>
            </a:r>
            <a:r>
              <a:rPr lang="en-US" dirty="0"/>
              <a:t> files are stored in a standard format which supports decompression and streaming using the python </a:t>
            </a:r>
            <a:r>
              <a:rPr lang="en-US" dirty="0" err="1"/>
              <a:t>Zstandard</a:t>
            </a:r>
            <a:r>
              <a:rPr lang="en-US" dirty="0"/>
              <a:t> library</a:t>
            </a:r>
          </a:p>
          <a:p>
            <a:r>
              <a:rPr lang="en-US" dirty="0"/>
              <a:t>Performance-improving methods:</a:t>
            </a:r>
          </a:p>
          <a:p>
            <a:pPr lvl="1"/>
            <a:r>
              <a:rPr lang="en-US" dirty="0"/>
              <a:t>Using </a:t>
            </a:r>
            <a:r>
              <a:rPr lang="en-US" dirty="0" err="1"/>
              <a:t>TextIOWrapper</a:t>
            </a:r>
            <a:r>
              <a:rPr lang="en-US" dirty="0"/>
              <a:t> with a buffer to more effectively stream data</a:t>
            </a:r>
          </a:p>
          <a:p>
            <a:pPr lvl="1"/>
            <a:r>
              <a:rPr lang="en-US" dirty="0"/>
              <a:t>Multiprocessing library in Python, with pools, to improve parallelism</a:t>
            </a:r>
          </a:p>
          <a:p>
            <a:pPr lvl="1"/>
            <a:r>
              <a:rPr lang="en-US" dirty="0"/>
              <a:t>Use </a:t>
            </a:r>
            <a:r>
              <a:rPr lang="en-US" dirty="0" err="1"/>
              <a:t>Zstandard</a:t>
            </a:r>
            <a:r>
              <a:rPr lang="en-US" dirty="0"/>
              <a:t> decompressor to avoid saving 30 GB files and up to 2 TB of data analyzed</a:t>
            </a:r>
          </a:p>
          <a:p>
            <a:r>
              <a:rPr lang="en-US" dirty="0"/>
              <a:t>Pools improved parallelism (about 2x improvement), but overhead with </a:t>
            </a:r>
            <a:r>
              <a:rPr lang="en-US" dirty="0" err="1"/>
              <a:t>IOWrapper</a:t>
            </a:r>
            <a:r>
              <a:rPr lang="en-US" dirty="0"/>
              <a:t> and network speeds was the limiting factor</a:t>
            </a:r>
          </a:p>
          <a:p>
            <a:pPr lvl="1"/>
            <a:r>
              <a:rPr lang="en-US" dirty="0"/>
              <a:t>This cannot be overcome without downloading the data (not feasible)</a:t>
            </a:r>
          </a:p>
        </p:txBody>
      </p:sp>
    </p:spTree>
    <p:extLst>
      <p:ext uri="{BB962C8B-B14F-4D97-AF65-F5344CB8AC3E}">
        <p14:creationId xmlns:p14="http://schemas.microsoft.com/office/powerpoint/2010/main" val="41710407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FFA7A-80F1-7072-F825-5E60BAF89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Highest and Lowest Openings by Average Rating</a:t>
            </a:r>
          </a:p>
        </p:txBody>
      </p:sp>
      <p:pic>
        <p:nvPicPr>
          <p:cNvPr id="6" name="Content Placeholder 5" descr="A bar chart with numbers and text&#10;&#10;AI-generated content may be incorrect.">
            <a:extLst>
              <a:ext uri="{FF2B5EF4-FFF2-40B4-BE49-F238E27FC236}">
                <a16:creationId xmlns:a16="http://schemas.microsoft.com/office/drawing/2014/main" id="{28EB2ABB-E875-CBE3-70CD-9744F904149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5781" y="2076450"/>
            <a:ext cx="5096669" cy="2548334"/>
          </a:xfrm>
        </p:spPr>
      </p:pic>
      <p:pic>
        <p:nvPicPr>
          <p:cNvPr id="8" name="Content Placeholder 7" descr="A blue bar graph with white text&#10;&#10;AI-generated content may be incorrect.">
            <a:extLst>
              <a:ext uri="{FF2B5EF4-FFF2-40B4-BE49-F238E27FC236}">
                <a16:creationId xmlns:a16="http://schemas.microsoft.com/office/drawing/2014/main" id="{C5D25D76-2DD1-9C74-FF9D-9AE498C5065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3815" y="2076450"/>
            <a:ext cx="5080796" cy="2540397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5236456-9555-C6E1-600A-DE7804A6202E}"/>
              </a:ext>
            </a:extLst>
          </p:cNvPr>
          <p:cNvSpPr txBox="1"/>
          <p:nvPr/>
        </p:nvSpPr>
        <p:spPr>
          <a:xfrm>
            <a:off x="2247900" y="5105400"/>
            <a:ext cx="905827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Openings differed by up to 1100 points in average ELO rating, a significant gap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Queen-pawn openings were generally the highest rated, while king-pawn openings occurred in lower rated games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Best response to e4 is the Sicilian, and play d4 as the white pieces</a:t>
            </a:r>
          </a:p>
        </p:txBody>
      </p:sp>
    </p:spTree>
    <p:extLst>
      <p:ext uri="{BB962C8B-B14F-4D97-AF65-F5344CB8AC3E}">
        <p14:creationId xmlns:p14="http://schemas.microsoft.com/office/powerpoint/2010/main" val="41003549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E2246-893E-D464-3517-CEA89A274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70087" y="436563"/>
            <a:ext cx="3505199" cy="976312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Long-Term Trends</a:t>
            </a:r>
          </a:p>
        </p:txBody>
      </p:sp>
      <p:pic>
        <p:nvPicPr>
          <p:cNvPr id="6" name="Content Placeholder 5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040467D1-2B3B-EFDD-8956-53400153ADF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2538" y="838200"/>
            <a:ext cx="5181600" cy="2590800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9AD076-29C3-9123-F0DC-5BF71BCD3F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19176" y="1598613"/>
            <a:ext cx="5075236" cy="4262436"/>
          </a:xfrm>
        </p:spPr>
        <p:txBody>
          <a:bodyPr>
            <a:normAutofit fontScale="92500" lnSpcReduction="2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Time Controls: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Bullet is &lt; 2 min per side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Blitz 2-5 min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Rapid &gt; 5 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Bullet has gained a larger share of the games played over time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Following a global trend of lower attention spans?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Openings come and go in terms of popularity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This has existed for &lt; 1,000 years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French defense (C00) has declined in popularity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Caro-Kann (B10) has increased in popularity</a:t>
            </a:r>
          </a:p>
        </p:txBody>
      </p:sp>
      <p:pic>
        <p:nvPicPr>
          <p:cNvPr id="8" name="Picture 7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53C423C3-31EA-8487-77BC-49550DE411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2538" y="3581405"/>
            <a:ext cx="5181600" cy="259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2422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88173-2161-9C63-E79D-77BC46829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Win-Rate Statistics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519E86-A125-8D3D-1B33-7BD97598B2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38800" y="1543050"/>
            <a:ext cx="5865812" cy="4368172"/>
          </a:xfrm>
        </p:spPr>
        <p:txBody>
          <a:bodyPr/>
          <a:lstStyle/>
          <a:p>
            <a:r>
              <a:rPr lang="en-US" dirty="0"/>
              <a:t>Average ELO difference between winning and losing side across 94M games was 19.51</a:t>
            </a:r>
          </a:p>
          <a:p>
            <a:pPr lvl="1"/>
            <a:r>
              <a:rPr lang="en-US" dirty="0"/>
              <a:t>This lends credence to the effectiveness of ELO as a rating metric</a:t>
            </a:r>
          </a:p>
          <a:p>
            <a:pPr lvl="1"/>
            <a:r>
              <a:rPr lang="en-US" dirty="0"/>
              <a:t>A randomized metric would move towards 0 ELO difference</a:t>
            </a:r>
          </a:p>
          <a:p>
            <a:r>
              <a:rPr lang="en-US" dirty="0"/>
              <a:t>White-piece advantage started around 2.8% at lower rating levels and increased up to 4.5% at highest rating levels, a 60% increase.</a:t>
            </a:r>
          </a:p>
          <a:p>
            <a:pPr lvl="1"/>
            <a:r>
              <a:rPr lang="en-US" dirty="0"/>
              <a:t>Indicates ability of better players to make the first move advantage persist through the game</a:t>
            </a:r>
          </a:p>
          <a:p>
            <a:pPr marL="457200" lvl="1" indent="0">
              <a:buNone/>
            </a:pPr>
            <a:endParaRPr lang="en-US" dirty="0"/>
          </a:p>
        </p:txBody>
      </p:sp>
      <p:pic>
        <p:nvPicPr>
          <p:cNvPr id="5" name="Picture 4" descr="A graph with blue lines and numbers&#10;&#10;AI-generated content may be incorrect.">
            <a:extLst>
              <a:ext uri="{FF2B5EF4-FFF2-40B4-BE49-F238E27FC236}">
                <a16:creationId xmlns:a16="http://schemas.microsoft.com/office/drawing/2014/main" id="{D7E46C8A-2884-B117-7BAD-7B64A58446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388" y="1543050"/>
            <a:ext cx="4875536" cy="3656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12244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87BA6-5D05-CD7D-7B7D-B83883537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954D98-427D-7A84-D973-4D9AD1A46E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676400"/>
            <a:ext cx="8915400" cy="4234822"/>
          </a:xfrm>
        </p:spPr>
        <p:txBody>
          <a:bodyPr/>
          <a:lstStyle/>
          <a:p>
            <a:r>
              <a:rPr lang="en-US" dirty="0"/>
              <a:t>HPC and Parallelization concepts are effective for streaming large files, but network speed can be a significant limiting factor</a:t>
            </a:r>
          </a:p>
          <a:p>
            <a:pPr lvl="1"/>
            <a:r>
              <a:rPr lang="en-US" dirty="0"/>
              <a:t>Having local access to large files would be ideal, but unfortunately not feasible in many cases</a:t>
            </a:r>
          </a:p>
          <a:p>
            <a:r>
              <a:rPr lang="en-US" dirty="0"/>
              <a:t>White-piece advantage increases as rating improves</a:t>
            </a:r>
          </a:p>
          <a:p>
            <a:r>
              <a:rPr lang="en-US" dirty="0"/>
              <a:t>There is a marked difference in opening types by rating range</a:t>
            </a:r>
          </a:p>
          <a:p>
            <a:r>
              <a:rPr lang="en-US" dirty="0"/>
              <a:t>Time Control trends follow larger global trends (higher bullet percentage, fewer longer games)</a:t>
            </a:r>
          </a:p>
          <a:p>
            <a:r>
              <a:rPr lang="en-US" dirty="0"/>
              <a:t>Future studies:</a:t>
            </a:r>
          </a:p>
          <a:p>
            <a:pPr lvl="1"/>
            <a:r>
              <a:rPr lang="en-US" dirty="0"/>
              <a:t>Player efficiency by rating (data only tracked for 6% of games)</a:t>
            </a:r>
          </a:p>
          <a:p>
            <a:pPr lvl="1"/>
            <a:r>
              <a:rPr lang="en-US" dirty="0"/>
              <a:t>Piece move percentages (do better players move the Queen less,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2852912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9CB0C-9750-69B7-5B97-C914EE915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15355A-0653-C43A-7A0B-6502B31D85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[1] “</a:t>
            </a:r>
            <a:r>
              <a:rPr lang="en-US" dirty="0" err="1"/>
              <a:t>Lichess.Org</a:t>
            </a:r>
            <a:r>
              <a:rPr lang="en-US" dirty="0"/>
              <a:t> Open Database.” </a:t>
            </a:r>
            <a:r>
              <a:rPr lang="en-US" i="1" dirty="0" err="1"/>
              <a:t>Lichess.Org</a:t>
            </a:r>
            <a:r>
              <a:rPr lang="en-US" i="1" dirty="0"/>
              <a:t> Open Database</a:t>
            </a:r>
            <a:r>
              <a:rPr lang="en-US" dirty="0"/>
              <a:t>, database.lichess.org/#standard_games. Accessed 24 Nov. 2025. </a:t>
            </a:r>
          </a:p>
          <a:p>
            <a:r>
              <a:rPr lang="en-US" dirty="0"/>
              <a:t>[2] “ECO Codes.” </a:t>
            </a:r>
            <a:r>
              <a:rPr lang="en-US" i="1" dirty="0"/>
              <a:t>365Chess</a:t>
            </a:r>
            <a:r>
              <a:rPr lang="en-US" dirty="0"/>
              <a:t>, www.365chess.com/eco.php. Accessed 24 Nov. 2025. </a:t>
            </a:r>
          </a:p>
          <a:p>
            <a:r>
              <a:rPr lang="en-US" dirty="0"/>
              <a:t>[3] Chess.com. “Elo Rating System - Chess Terms.” </a:t>
            </a:r>
            <a:r>
              <a:rPr lang="en-US" i="1" dirty="0"/>
              <a:t>Chess.com</a:t>
            </a:r>
            <a:r>
              <a:rPr lang="en-US" dirty="0"/>
              <a:t>, www.chess.com/terms/elo-rating-chess.</a:t>
            </a:r>
          </a:p>
          <a:p>
            <a:r>
              <a:rPr lang="en-US" dirty="0"/>
              <a:t>‌[4] “</a:t>
            </a:r>
            <a:r>
              <a:rPr lang="en-US" dirty="0" err="1"/>
              <a:t>Compression.zstd</a:t>
            </a:r>
            <a:r>
              <a:rPr lang="en-US" dirty="0"/>
              <a:t> — Compression Compatible with the </a:t>
            </a:r>
            <a:r>
              <a:rPr lang="en-US" dirty="0" err="1"/>
              <a:t>Zstandard</a:t>
            </a:r>
            <a:r>
              <a:rPr lang="en-US" dirty="0"/>
              <a:t> Format.” </a:t>
            </a:r>
            <a:r>
              <a:rPr lang="en-US" i="1" dirty="0"/>
              <a:t>Python Documentation</a:t>
            </a:r>
            <a:r>
              <a:rPr lang="en-US" dirty="0"/>
              <a:t>, 2025, docs.python.org/3/library/</a:t>
            </a:r>
            <a:r>
              <a:rPr lang="en-US" dirty="0" err="1"/>
              <a:t>compression.zstd.html#compression.zstd.ZstdDecompressor</a:t>
            </a:r>
            <a:r>
              <a:rPr lang="en-US" dirty="0"/>
              <a:t>. Accessed 24 Nov. 2025.</a:t>
            </a:r>
          </a:p>
          <a:p>
            <a:r>
              <a:rPr lang="en-US" dirty="0"/>
              <a:t>[5] Python. “Multiprocessing — Process-Based Parallelism — Python 3.8.3rc1 Documentation.” </a:t>
            </a:r>
            <a:r>
              <a:rPr lang="en-US" i="1" dirty="0"/>
              <a:t>Docs.python.org</a:t>
            </a:r>
            <a:r>
              <a:rPr lang="en-US" dirty="0"/>
              <a:t>, docs.python.org/3/library/multiprocessing.html.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5674792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TM02892315[[fn=Wisp]]</Template>
  <TotalTime>59</TotalTime>
  <Words>679</Words>
  <Application>Microsoft Office PowerPoint</Application>
  <PresentationFormat>Widescreen</PresentationFormat>
  <Paragraphs>58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Century Gothic</vt:lpstr>
      <vt:lpstr>Wingdings 3</vt:lpstr>
      <vt:lpstr>Wisp</vt:lpstr>
      <vt:lpstr>MPCS 56430 Project: Chess Database Analysis</vt:lpstr>
      <vt:lpstr>Introduction / Background</vt:lpstr>
      <vt:lpstr>Methodology</vt:lpstr>
      <vt:lpstr>Highest and Lowest Openings by Average Rating</vt:lpstr>
      <vt:lpstr>Long-Term Trends</vt:lpstr>
      <vt:lpstr>Win-Rate Statistics</vt:lpstr>
      <vt:lpstr>Summary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Shane McVeigh</dc:creator>
  <cp:lastModifiedBy>Shane McVeigh</cp:lastModifiedBy>
  <cp:revision>9</cp:revision>
  <dcterms:created xsi:type="dcterms:W3CDTF">2025-11-24T21:59:47Z</dcterms:created>
  <dcterms:modified xsi:type="dcterms:W3CDTF">2025-11-25T01:14:20Z</dcterms:modified>
</cp:coreProperties>
</file>