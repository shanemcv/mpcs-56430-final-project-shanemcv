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68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0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2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2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2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8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4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17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8063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4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0357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3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09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81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6B1A1-6EEA-4202-ACBA-2A9408B8042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27A81E1-9E2D-4537-9676-A5BFE34A8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4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356F1A-690D-401E-8CF3-E4686CDFE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98A7BA-9279-4363-9D59-238782AB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57608" y="228600"/>
            <a:ext cx="2851523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ACCBEEF-7085-4833-8335-E4613C0A1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B39C0EC5-6C91-409A-AB3F-D66AF23E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D4A9340-30CF-474C-AC93-3E9048DFE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C2D90565-D660-46B2-B574-5A6E37C8B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4ADDF1F8-3D32-49F9-8A53-B01C2D92C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DD712377-DF82-454C-8AF4-CA681129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694E1871-CC0E-4704-902D-A324F58E4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6CEE1CA2-8DDF-468B-B5E5-B584B84BD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AAA4172B-3921-482A-ABEF-E70C9242A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D277B64-E367-442D-B59F-993A45856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B4BA4199-8677-44FF-BD30-63130A0F5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890CEB5-09DD-4185-9405-A39BA6405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88DAD3-AF6F-4D6C-8512-7239A69A4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84823" y="-786"/>
            <a:ext cx="235667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1BA39A29-3A4E-4822-A540-9AD6ACCBA9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B2ACACE6-15B3-4FAF-AA08-E1006B3FD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A4D9A-69F4-4FEC-B0DE-DD76F476E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92DC9B5-F16D-4C41-824C-822DE7AA0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E737D559-8865-4000-A777-792FF6754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1C2147A-442E-40A4-8A97-FF053B9D2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B138F17C-6D47-4F1B-BE44-4A47FBCFF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1BCD5498-C801-426F-9CDD-B84178E72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6DB0639C-39E0-4218-B7D1-0408D870F4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72715634-CCEA-4B5D-94D7-E2C090EA1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6BE08C78-1349-4408-8CE2-ED20F3244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642D5BF8-EF6C-43FC-947B-69868821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320E72-F709-7758-8390-52A8F7965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5066" y="2514600"/>
            <a:ext cx="5681134" cy="2262781"/>
          </a:xfrm>
        </p:spPr>
        <p:txBody>
          <a:bodyPr>
            <a:normAutofit/>
          </a:bodyPr>
          <a:lstStyle/>
          <a:p>
            <a:r>
              <a:rPr lang="en-US" sz="4400" dirty="0"/>
              <a:t>MPCS 56430 Project:</a:t>
            </a:r>
            <a:br>
              <a:rPr lang="en-US" sz="4400" dirty="0"/>
            </a:br>
            <a:r>
              <a:rPr lang="en-US" sz="4400" dirty="0"/>
              <a:t>Chess Database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0373F-5136-5C5F-6F8B-3D1BABFF9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5066" y="4777379"/>
            <a:ext cx="5681134" cy="1126283"/>
          </a:xfrm>
        </p:spPr>
        <p:txBody>
          <a:bodyPr>
            <a:normAutofit/>
          </a:bodyPr>
          <a:lstStyle/>
          <a:p>
            <a:r>
              <a:rPr lang="en-US" dirty="0"/>
              <a:t>Shane McVeigh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41A10E-0F0E-4596-8888-870D7092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57599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Freeform 33">
            <a:extLst>
              <a:ext uri="{FF2B5EF4-FFF2-40B4-BE49-F238E27FC236}">
                <a16:creationId xmlns:a16="http://schemas.microsoft.com/office/drawing/2014/main" id="{29B1E55C-E51F-4093-A2A8-137C3E901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657599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Glass chess pieces on board">
            <a:extLst>
              <a:ext uri="{FF2B5EF4-FFF2-40B4-BE49-F238E27FC236}">
                <a16:creationId xmlns:a16="http://schemas.microsoft.com/office/drawing/2014/main" id="{3CEC085C-4495-2FA9-2D02-C935314B5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81" r="20363"/>
          <a:stretch>
            <a:fillRect/>
          </a:stretch>
        </p:blipFill>
        <p:spPr>
          <a:xfrm>
            <a:off x="-2650" y="10"/>
            <a:ext cx="36810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1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94A027-9B68-A91E-F351-2A0B1728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r>
              <a:rPr lang="en-US" dirty="0"/>
              <a:t>Introduction / Background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First move of a chess game">
            <a:extLst>
              <a:ext uri="{FF2B5EF4-FFF2-40B4-BE49-F238E27FC236}">
                <a16:creationId xmlns:a16="http://schemas.microsoft.com/office/drawing/2014/main" id="{7381BF40-3908-77C8-8C8F-D8AFA280D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81" r="15924"/>
          <a:stretch>
            <a:fillRect/>
          </a:stretch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43899-75DC-A04E-ED1C-FD2D9283D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2153" y="1862785"/>
            <a:ext cx="6212458" cy="4638361"/>
          </a:xfrm>
        </p:spPr>
        <p:txBody>
          <a:bodyPr>
            <a:normAutofit/>
          </a:bodyPr>
          <a:lstStyle/>
          <a:p>
            <a:r>
              <a:rPr lang="en-US" dirty="0" err="1"/>
              <a:t>Lichess</a:t>
            </a:r>
            <a:r>
              <a:rPr lang="en-US" dirty="0"/>
              <a:t> is one of the most popular open-source online chess websites</a:t>
            </a:r>
          </a:p>
          <a:p>
            <a:r>
              <a:rPr lang="en-US" dirty="0"/>
              <a:t>They offer free access to their very large game database files per month (~30 GB per month)</a:t>
            </a:r>
          </a:p>
          <a:p>
            <a:r>
              <a:rPr lang="en-US" dirty="0"/>
              <a:t>It can take a very long time to parse through this data, so effective parallelization and HPC concepts are key</a:t>
            </a:r>
          </a:p>
          <a:p>
            <a:r>
              <a:rPr lang="en-US" dirty="0"/>
              <a:t>I sought to answer the following questions:</a:t>
            </a:r>
          </a:p>
          <a:p>
            <a:pPr lvl="1"/>
            <a:r>
              <a:rPr lang="en-US" dirty="0"/>
              <a:t>What openings are popular at different ratings?</a:t>
            </a:r>
          </a:p>
          <a:p>
            <a:pPr lvl="1"/>
            <a:r>
              <a:rPr lang="en-US" dirty="0"/>
              <a:t>Are openings/time controls gaining or losing popularity?</a:t>
            </a:r>
          </a:p>
          <a:p>
            <a:pPr lvl="1"/>
            <a:r>
              <a:rPr lang="en-US" dirty="0"/>
              <a:t>Does playing with white/black matter more at different skill levels?</a:t>
            </a:r>
          </a:p>
          <a:p>
            <a:pPr lvl="1"/>
            <a:r>
              <a:rPr lang="en-US" dirty="0"/>
              <a:t>What is the average rating difference for the winner?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88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1622-811C-C0C8-864F-D6B082595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09204-D49D-7B6F-8B37-DBF21572B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Lichess</a:t>
            </a:r>
            <a:r>
              <a:rPr lang="en-US" dirty="0"/>
              <a:t> files are stored in a standard format which supports decompression and streaming using the python </a:t>
            </a:r>
            <a:r>
              <a:rPr lang="en-US" dirty="0" err="1"/>
              <a:t>Zstandard</a:t>
            </a:r>
            <a:r>
              <a:rPr lang="en-US" dirty="0"/>
              <a:t> library</a:t>
            </a:r>
          </a:p>
          <a:p>
            <a:r>
              <a:rPr lang="en-US" dirty="0"/>
              <a:t>Performance-improving methods:</a:t>
            </a:r>
          </a:p>
          <a:p>
            <a:pPr lvl="1"/>
            <a:r>
              <a:rPr lang="en-US" dirty="0"/>
              <a:t>Using </a:t>
            </a:r>
            <a:r>
              <a:rPr lang="en-US" dirty="0" err="1"/>
              <a:t>TextIOWrapper</a:t>
            </a:r>
            <a:r>
              <a:rPr lang="en-US" dirty="0"/>
              <a:t> with a buffer to more effectively stream data</a:t>
            </a:r>
          </a:p>
          <a:p>
            <a:pPr lvl="1"/>
            <a:r>
              <a:rPr lang="en-US" dirty="0"/>
              <a:t>Multiprocessing library in Python, with pools, to improve parallelism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Zstandard</a:t>
            </a:r>
            <a:r>
              <a:rPr lang="en-US" dirty="0"/>
              <a:t> decompressor to avoid saving 30 GB files and up to 2 TB of data analyzed</a:t>
            </a:r>
          </a:p>
          <a:p>
            <a:r>
              <a:rPr lang="en-US" dirty="0"/>
              <a:t>Pools improved parallelism (about 2x improvement), but overhead with </a:t>
            </a:r>
            <a:r>
              <a:rPr lang="en-US" dirty="0" err="1"/>
              <a:t>IOWrapper</a:t>
            </a:r>
            <a:r>
              <a:rPr lang="en-US" dirty="0"/>
              <a:t> and network speeds was the limiting factor</a:t>
            </a:r>
          </a:p>
          <a:p>
            <a:pPr lvl="1"/>
            <a:r>
              <a:rPr lang="en-US" dirty="0"/>
              <a:t>This cannot be overcome without downloading the data (not feasible)</a:t>
            </a:r>
          </a:p>
        </p:txBody>
      </p:sp>
    </p:spTree>
    <p:extLst>
      <p:ext uri="{BB962C8B-B14F-4D97-AF65-F5344CB8AC3E}">
        <p14:creationId xmlns:p14="http://schemas.microsoft.com/office/powerpoint/2010/main" val="417104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FA7A-80F1-7072-F825-5E60BAF89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Highest and Lowest Openings by Average Rating</a:t>
            </a:r>
          </a:p>
        </p:txBody>
      </p:sp>
      <p:pic>
        <p:nvPicPr>
          <p:cNvPr id="6" name="Content Placeholder 5" descr="A bar chart with numbers and text&#10;&#10;AI-generated content may be incorrect.">
            <a:extLst>
              <a:ext uri="{FF2B5EF4-FFF2-40B4-BE49-F238E27FC236}">
                <a16:creationId xmlns:a16="http://schemas.microsoft.com/office/drawing/2014/main" id="{28EB2ABB-E875-CBE3-70CD-9744F90414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781" y="2076450"/>
            <a:ext cx="5096669" cy="2548334"/>
          </a:xfrm>
        </p:spPr>
      </p:pic>
      <p:pic>
        <p:nvPicPr>
          <p:cNvPr id="8" name="Content Placeholder 7" descr="A blue bar graph with white text&#10;&#10;AI-generated content may be incorrect.">
            <a:extLst>
              <a:ext uri="{FF2B5EF4-FFF2-40B4-BE49-F238E27FC236}">
                <a16:creationId xmlns:a16="http://schemas.microsoft.com/office/drawing/2014/main" id="{C5D25D76-2DD1-9C74-FF9D-9AE498C506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815" y="2076450"/>
            <a:ext cx="5080796" cy="25403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236456-9555-C6E1-600A-DE7804A6202E}"/>
              </a:ext>
            </a:extLst>
          </p:cNvPr>
          <p:cNvSpPr txBox="1"/>
          <p:nvPr/>
        </p:nvSpPr>
        <p:spPr>
          <a:xfrm>
            <a:off x="2247900" y="5105400"/>
            <a:ext cx="9058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Openings differed by up to 1100 points in average ELO rating, a significant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Queen-pawn openings were generally the highest rated, while king-pawn openings occurred in lower rated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response to e4 is the Sicilian, and play d4 as the white pieces</a:t>
            </a:r>
          </a:p>
        </p:txBody>
      </p:sp>
    </p:spTree>
    <p:extLst>
      <p:ext uri="{BB962C8B-B14F-4D97-AF65-F5344CB8AC3E}">
        <p14:creationId xmlns:p14="http://schemas.microsoft.com/office/powerpoint/2010/main" val="410035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2246-893E-D464-3517-CEA89A27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Long-Term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5A48B-9404-5621-2113-426FA61F3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AD076-29C3-9123-F0DC-5BF71BCD3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Time Controls: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Bullet is &lt; 2 min per side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Blitz 2-5 min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Rapid &gt; 5 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Bullet has gained a larger share of the games played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Following a global trend of lower attention spans?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Openings come and go in terms of popularity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This has existed for &lt; 1,000 years</a:t>
            </a:r>
          </a:p>
        </p:txBody>
      </p:sp>
    </p:spTree>
    <p:extLst>
      <p:ext uri="{BB962C8B-B14F-4D97-AF65-F5344CB8AC3E}">
        <p14:creationId xmlns:p14="http://schemas.microsoft.com/office/powerpoint/2010/main" val="313324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8173-2161-9C63-E79D-77BC4682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Win-Rate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19E86-A125-8D3D-1B33-7BD97598B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0" y="1543050"/>
            <a:ext cx="5865812" cy="4368172"/>
          </a:xfrm>
        </p:spPr>
        <p:txBody>
          <a:bodyPr/>
          <a:lstStyle/>
          <a:p>
            <a:r>
              <a:rPr lang="en-US" dirty="0"/>
              <a:t>Average ELO difference between winning and losing side across 94M games was 19.51</a:t>
            </a:r>
          </a:p>
          <a:p>
            <a:pPr lvl="1"/>
            <a:r>
              <a:rPr lang="en-US" dirty="0"/>
              <a:t>This lends credence to the effectiveness of ELO as a rating metric</a:t>
            </a:r>
          </a:p>
          <a:p>
            <a:pPr lvl="1"/>
            <a:r>
              <a:rPr lang="en-US" dirty="0"/>
              <a:t>A randomized metric would move towards 0 ELO difference</a:t>
            </a:r>
          </a:p>
          <a:p>
            <a:r>
              <a:rPr lang="en-US" dirty="0"/>
              <a:t>White-piece advantage started around 2.8% at lower rating levels and increased up to 4.5% at highest rating levels, a 60% increase.</a:t>
            </a:r>
          </a:p>
          <a:p>
            <a:pPr lvl="1"/>
            <a:r>
              <a:rPr lang="en-US" dirty="0"/>
              <a:t>Indicates ability of better players to make the first move advantage persist through the game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D7E46C8A-2884-B117-7BAD-7B64A5844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88" y="1543050"/>
            <a:ext cx="4875536" cy="365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24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87BA6-5D05-CD7D-7B7D-B8388353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54D98-427D-7A84-D973-4D9AD1A46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76400"/>
            <a:ext cx="8915400" cy="4234822"/>
          </a:xfrm>
        </p:spPr>
        <p:txBody>
          <a:bodyPr/>
          <a:lstStyle/>
          <a:p>
            <a:r>
              <a:rPr lang="en-US" dirty="0"/>
              <a:t>HPC and Parallelization concepts are effective for streaming large files, but network speed can be a significant limiting factor</a:t>
            </a:r>
          </a:p>
          <a:p>
            <a:pPr lvl="1"/>
            <a:r>
              <a:rPr lang="en-US" dirty="0"/>
              <a:t>Having local access to large files would be ideal, but unfortunately not feasible in many cases</a:t>
            </a:r>
          </a:p>
          <a:p>
            <a:r>
              <a:rPr lang="en-US" dirty="0"/>
              <a:t>White-piece advantage increases as rating improves</a:t>
            </a:r>
          </a:p>
          <a:p>
            <a:r>
              <a:rPr lang="en-US" dirty="0"/>
              <a:t>There is a marked difference in opening types by rating range</a:t>
            </a:r>
          </a:p>
          <a:p>
            <a:r>
              <a:rPr lang="en-US" dirty="0"/>
              <a:t>Time Control trends follow larger global trends (higher bullet percentage, fewer longer games)</a:t>
            </a:r>
          </a:p>
          <a:p>
            <a:r>
              <a:rPr lang="en-US" dirty="0"/>
              <a:t>Future studies:</a:t>
            </a:r>
          </a:p>
          <a:p>
            <a:pPr lvl="1"/>
            <a:r>
              <a:rPr lang="en-US" dirty="0"/>
              <a:t>Player efficiency by rating (data only tracked for 6% of games)</a:t>
            </a:r>
          </a:p>
          <a:p>
            <a:pPr lvl="1"/>
            <a:r>
              <a:rPr lang="en-US" dirty="0"/>
              <a:t>Piece move percentages (do better players move the Queen less,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529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CB0C-9750-69B7-5B97-C914EE91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5355A-0653-C43A-7A0B-6502B31D8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[1] “</a:t>
            </a:r>
            <a:r>
              <a:rPr lang="en-US" dirty="0" err="1"/>
              <a:t>Lichess.Org</a:t>
            </a:r>
            <a:r>
              <a:rPr lang="en-US" dirty="0"/>
              <a:t> Open Database.” </a:t>
            </a:r>
            <a:r>
              <a:rPr lang="en-US" i="1" dirty="0" err="1"/>
              <a:t>Lichess.Org</a:t>
            </a:r>
            <a:r>
              <a:rPr lang="en-US" i="1" dirty="0"/>
              <a:t> Open Database</a:t>
            </a:r>
            <a:r>
              <a:rPr lang="en-US" dirty="0"/>
              <a:t>, database.lichess.org/#standard_games. Accessed 24 Nov. 2025. </a:t>
            </a:r>
          </a:p>
          <a:p>
            <a:r>
              <a:rPr lang="en-US" dirty="0"/>
              <a:t>[2] “ECO Codes.” </a:t>
            </a:r>
            <a:r>
              <a:rPr lang="en-US" i="1" dirty="0"/>
              <a:t>365Chess</a:t>
            </a:r>
            <a:r>
              <a:rPr lang="en-US" dirty="0"/>
              <a:t>, www.365chess.com/eco.php. Accessed 24 Nov. 2025. </a:t>
            </a:r>
          </a:p>
          <a:p>
            <a:r>
              <a:rPr lang="en-US" dirty="0"/>
              <a:t>[3] Chess.com. “Elo Rating System - Chess Terms.” </a:t>
            </a:r>
            <a:r>
              <a:rPr lang="en-US" i="1" dirty="0"/>
              <a:t>Chess.com</a:t>
            </a:r>
            <a:r>
              <a:rPr lang="en-US" dirty="0"/>
              <a:t>, www.chess.com/terms/elo-rating-chess.</a:t>
            </a:r>
          </a:p>
          <a:p>
            <a:r>
              <a:rPr lang="en-US" dirty="0"/>
              <a:t>‌[4] “</a:t>
            </a:r>
            <a:r>
              <a:rPr lang="en-US" dirty="0" err="1"/>
              <a:t>Compression.zstd</a:t>
            </a:r>
            <a:r>
              <a:rPr lang="en-US" dirty="0"/>
              <a:t> — Compression Compatible with the </a:t>
            </a:r>
            <a:r>
              <a:rPr lang="en-US" dirty="0" err="1"/>
              <a:t>Zstandard</a:t>
            </a:r>
            <a:r>
              <a:rPr lang="en-US" dirty="0"/>
              <a:t> Format.” </a:t>
            </a:r>
            <a:r>
              <a:rPr lang="en-US" i="1" dirty="0"/>
              <a:t>Python Documentation</a:t>
            </a:r>
            <a:r>
              <a:rPr lang="en-US" dirty="0"/>
              <a:t>, 2025, docs.python.org/3/library/</a:t>
            </a:r>
            <a:r>
              <a:rPr lang="en-US" dirty="0" err="1"/>
              <a:t>compression.zstd.html#compression.zstd.ZstdDecompressor</a:t>
            </a:r>
            <a:r>
              <a:rPr lang="en-US" dirty="0"/>
              <a:t>. Accessed 24 Nov. 2025.</a:t>
            </a:r>
          </a:p>
          <a:p>
            <a:r>
              <a:rPr lang="en-US" dirty="0"/>
              <a:t>[5] Python. “Multiprocessing — Process-Based Parallelism — Python 3.8.3rc1 Documentation.” </a:t>
            </a:r>
            <a:r>
              <a:rPr lang="en-US" i="1" dirty="0"/>
              <a:t>Docs.python.org</a:t>
            </a:r>
            <a:r>
              <a:rPr lang="en-US" dirty="0"/>
              <a:t>, docs.python.org/3/library/multiprocessing.html.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747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56</TotalTime>
  <Words>662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MPCS 56430 Project: Chess Database Analysis</vt:lpstr>
      <vt:lpstr>Introduction / Background</vt:lpstr>
      <vt:lpstr>Methodology</vt:lpstr>
      <vt:lpstr>Highest and Lowest Openings by Average Rating</vt:lpstr>
      <vt:lpstr>Long-Term Trends</vt:lpstr>
      <vt:lpstr>Win-Rate Statistics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Shane McVeigh</dc:creator>
  <cp:lastModifiedBy>Shane McVeigh</cp:lastModifiedBy>
  <cp:revision>6</cp:revision>
  <dcterms:created xsi:type="dcterms:W3CDTF">2025-11-24T21:59:47Z</dcterms:created>
  <dcterms:modified xsi:type="dcterms:W3CDTF">2025-11-24T22:56:42Z</dcterms:modified>
</cp:coreProperties>
</file>